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87" r:id="rId3"/>
    <p:sldId id="271" r:id="rId4"/>
    <p:sldId id="257" r:id="rId5"/>
    <p:sldId id="258" r:id="rId6"/>
    <p:sldId id="259" r:id="rId7"/>
    <p:sldId id="260" r:id="rId8"/>
    <p:sldId id="261" r:id="rId9"/>
    <p:sldId id="285" r:id="rId10"/>
    <p:sldId id="262" r:id="rId11"/>
    <p:sldId id="286" r:id="rId12"/>
    <p:sldId id="274" r:id="rId13"/>
    <p:sldId id="273" r:id="rId14"/>
    <p:sldId id="279" r:id="rId15"/>
    <p:sldId id="276" r:id="rId16"/>
    <p:sldId id="283" r:id="rId17"/>
    <p:sldId id="282" r:id="rId18"/>
    <p:sldId id="265" r:id="rId19"/>
    <p:sldId id="284" r:id="rId20"/>
    <p:sldId id="267" r:id="rId21"/>
    <p:sldId id="266" r:id="rId22"/>
    <p:sldId id="269" r:id="rId23"/>
    <p:sldId id="275" r:id="rId24"/>
    <p:sldId id="272" r:id="rId25"/>
    <p:sldId id="268" r:id="rId26"/>
    <p:sldId id="263" r:id="rId27"/>
    <p:sldId id="264" r:id="rId28"/>
    <p:sldId id="270" r:id="rId29"/>
    <p:sldId id="281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78">
          <p15:clr>
            <a:srgbClr val="A4A3A4"/>
          </p15:clr>
        </p15:guide>
        <p15:guide id="2" pos="38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4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6080" autoAdjust="0"/>
    <p:restoredTop sz="86395"/>
  </p:normalViewPr>
  <p:slideViewPr>
    <p:cSldViewPr snapToGrid="0" snapToObjects="1" showGuides="1">
      <p:cViewPr varScale="1">
        <p:scale>
          <a:sx n="133" d="100"/>
          <a:sy n="133" d="100"/>
        </p:scale>
        <p:origin x="2592" y="200"/>
      </p:cViewPr>
      <p:guideLst>
        <p:guide orient="horz" pos="2578"/>
        <p:guide pos="38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1072"/>
    </p:cViewPr>
  </p:sorterViewPr>
  <p:notesViewPr>
    <p:cSldViewPr snapToGrid="0" snapToObjects="1">
      <p:cViewPr varScale="1">
        <p:scale>
          <a:sx n="117" d="100"/>
          <a:sy n="117" d="100"/>
        </p:scale>
        <p:origin x="388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F05500-ACBD-1C43-B2B4-F4748E2591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2473B-ADED-3B4E-B254-10990942F1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CECB-AF42-4F4A-9A58-629F8FDCA1C7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4DB7A-5D22-1243-912A-43A56AC175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5E051-7CE9-4C4D-B956-0F7AA6EB3C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BB418-AE81-734C-837E-74926F6B8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24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A0436-3BF9-2B4F-BC80-C67BED01B3A2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63C0E-5B95-6140-86B3-840DE3DDD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6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63C0E-5B95-6140-86B3-840DE3DDD4C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31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63C0E-5B95-6140-86B3-840DE3DDD4C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78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63C0E-5B95-6140-86B3-840DE3DDD4C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15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47E2A-C833-2B49-81F2-998861D699A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B918-69C7-AB4F-8F34-4EA2E9049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40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47E2A-C833-2B49-81F2-998861D699A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B918-69C7-AB4F-8F34-4EA2E9049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9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47E2A-C833-2B49-81F2-998861D699A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B918-69C7-AB4F-8F34-4EA2E9049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1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47E2A-C833-2B49-81F2-998861D699A6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B918-69C7-AB4F-8F34-4EA2E9049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35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47E2A-C833-2B49-81F2-998861D699A6}" type="datetimeFigureOut">
              <a:rPr lang="en-US" smtClean="0"/>
              <a:t>3/4/25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B918-69C7-AB4F-8F34-4EA2E9049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6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47E2A-C833-2B49-81F2-998861D699A6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B918-69C7-AB4F-8F34-4EA2E9049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95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47E2A-C833-2B49-81F2-998861D699A6}" type="datetimeFigureOut">
              <a:rPr lang="en-US" smtClean="0"/>
              <a:t>3/4/25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B918-69C7-AB4F-8F34-4EA2E9049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74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47E2A-C833-2B49-81F2-998861D699A6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B918-69C7-AB4F-8F34-4EA2E9049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1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47E2A-C833-2B49-81F2-998861D699A6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B918-69C7-AB4F-8F34-4EA2E9049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5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47E2A-C833-2B49-81F2-998861D699A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B918-69C7-AB4F-8F34-4EA2E9049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7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47E2A-C833-2B49-81F2-998861D699A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B918-69C7-AB4F-8F34-4EA2E9049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3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47E2A-C833-2B49-81F2-998861D699A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3B918-69C7-AB4F-8F34-4EA2E9049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72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Shot 2018-07-31 at 4.57.2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98" y="67378"/>
            <a:ext cx="8057008" cy="679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79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dirty="0">
                <a:latin typeface="华文黑体"/>
                <a:ea typeface="华文黑体"/>
                <a:cs typeface="华文黑体"/>
              </a:rPr>
              <a:t>新加坡根缘文化学会</a:t>
            </a:r>
            <a:br>
              <a:rPr lang="en-US" altLang="zh-CN" dirty="0">
                <a:latin typeface="华文黑体"/>
                <a:ea typeface="华文黑体"/>
                <a:cs typeface="华文黑体"/>
              </a:rPr>
            </a:br>
            <a:r>
              <a:rPr lang="zh-CN" altLang="en-US" dirty="0">
                <a:latin typeface="华文黑体"/>
                <a:ea typeface="华文黑体"/>
                <a:cs typeface="华文黑体"/>
              </a:rPr>
              <a:t>会员大会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(1)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之活动报告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华文黑体"/>
                <a:ea typeface="华文黑体"/>
                <a:cs typeface="华文黑体"/>
              </a:rPr>
              <a:t>2019</a:t>
            </a:r>
            <a:r>
              <a:rPr lang="zh-CN" altLang="en-US" dirty="0">
                <a:solidFill>
                  <a:srgbClr val="000000"/>
                </a:solidFill>
                <a:latin typeface="华文黑体"/>
                <a:ea typeface="华文黑体"/>
                <a:cs typeface="华文黑体"/>
              </a:rPr>
              <a:t>年</a:t>
            </a:r>
            <a:r>
              <a:rPr lang="en-US" altLang="zh-CN" dirty="0">
                <a:solidFill>
                  <a:srgbClr val="000000"/>
                </a:solidFill>
                <a:latin typeface="华文黑体"/>
                <a:ea typeface="华文黑体"/>
                <a:cs typeface="华文黑体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solidFill>
                  <a:srgbClr val="000000"/>
                </a:solidFill>
                <a:latin typeface="华文黑体"/>
                <a:ea typeface="华文黑体"/>
                <a:cs typeface="华文黑体"/>
              </a:rPr>
              <a:t>22</a:t>
            </a:r>
            <a:r>
              <a:rPr lang="zh-CN" altLang="en-US" dirty="0">
                <a:solidFill>
                  <a:srgbClr val="000000"/>
                </a:solidFill>
                <a:latin typeface="华文黑体"/>
                <a:ea typeface="华文黑体"/>
                <a:cs typeface="华文黑体"/>
              </a:rPr>
              <a:t>日</a:t>
            </a:r>
            <a:endParaRPr lang="en-US" altLang="zh-CN" dirty="0">
              <a:solidFill>
                <a:srgbClr val="000000"/>
              </a:solidFill>
              <a:latin typeface="华文黑体"/>
              <a:ea typeface="华文黑体"/>
              <a:cs typeface="华文黑体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华文黑体"/>
                <a:ea typeface="华文黑体"/>
                <a:cs typeface="华文黑体"/>
              </a:rPr>
              <a:t>琼崖黄氏公会</a:t>
            </a:r>
            <a:endParaRPr lang="en-US" dirty="0">
              <a:solidFill>
                <a:srgbClr val="000000"/>
              </a:solidFill>
              <a:latin typeface="华文黑体"/>
              <a:ea typeface="华文黑体"/>
              <a:cs typeface="华文黑体"/>
            </a:endParaRPr>
          </a:p>
        </p:txBody>
      </p:sp>
      <p:pic>
        <p:nvPicPr>
          <p:cNvPr id="6" name="Picture 5" descr="Screen Shot 2018-07-31 at 4.57.2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685" y="268327"/>
            <a:ext cx="2051385" cy="172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79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697872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华文黑体"/>
                <a:ea typeface="华文黑体"/>
                <a:cs typeface="华文黑体"/>
              </a:rPr>
              <a:t>新加坡根缘文化学会</a:t>
            </a:r>
            <a:br>
              <a:rPr lang="en-US" altLang="zh-CN" dirty="0">
                <a:latin typeface="华文黑体"/>
                <a:ea typeface="华文黑体"/>
                <a:cs typeface="华文黑体"/>
              </a:rPr>
            </a:br>
            <a:r>
              <a:rPr lang="en-US" altLang="zh-CN" dirty="0">
                <a:latin typeface="华文黑体"/>
                <a:ea typeface="华文黑体"/>
                <a:cs typeface="华文黑体"/>
              </a:rPr>
              <a:t>2018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 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执委会会议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85799" y="2473008"/>
            <a:ext cx="7917161" cy="3233419"/>
          </a:xfrm>
        </p:spPr>
        <p:txBody>
          <a:bodyPr>
            <a:no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21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日</a:t>
            </a:r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 	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－第</a:t>
            </a:r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次</a:t>
            </a:r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 		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海南协会</a:t>
            </a:r>
            <a:endParaRPr lang="en-US" altLang="zh-CN" sz="2800" dirty="0">
              <a:solidFill>
                <a:schemeClr val="tx1"/>
              </a:solidFill>
              <a:latin typeface="华文黑体"/>
              <a:ea typeface="华文黑体"/>
              <a:cs typeface="华文黑体"/>
            </a:endParaRPr>
          </a:p>
          <a:p>
            <a:endParaRPr lang="en-US" sz="2800" dirty="0">
              <a:solidFill>
                <a:schemeClr val="tx1"/>
              </a:solidFill>
              <a:latin typeface="华文黑体"/>
              <a:ea typeface="华文黑体"/>
              <a:cs typeface="华文黑体"/>
            </a:endParaRPr>
          </a:p>
          <a:p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6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16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日</a:t>
            </a:r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		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－第</a:t>
            </a:r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次</a:t>
            </a:r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		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黄氏公会</a:t>
            </a:r>
            <a:endParaRPr lang="en-US" sz="2800" dirty="0">
              <a:solidFill>
                <a:schemeClr val="tx1"/>
              </a:solidFill>
              <a:latin typeface="华文黑体"/>
              <a:ea typeface="华文黑体"/>
              <a:cs typeface="华文黑体"/>
            </a:endParaRPr>
          </a:p>
          <a:p>
            <a:b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</a:br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12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14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日</a:t>
            </a:r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	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－第</a:t>
            </a:r>
            <a:r>
              <a:rPr lang="zh-CN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次</a:t>
            </a:r>
            <a:r>
              <a:rPr lang="en-US" altLang="zh-CN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		</a:t>
            </a:r>
            <a:r>
              <a:rPr lang="zh-CN" altLang="en-US" sz="2800" dirty="0">
                <a:solidFill>
                  <a:schemeClr val="tx1"/>
                </a:solidFill>
                <a:latin typeface="华文黑体"/>
                <a:ea typeface="华文黑体"/>
                <a:cs typeface="华文黑体"/>
              </a:rPr>
              <a:t>黄氏公会</a:t>
            </a:r>
            <a:endParaRPr lang="en-US" sz="2800" dirty="0">
              <a:solidFill>
                <a:schemeClr val="tx1"/>
              </a:solidFill>
              <a:latin typeface="华文黑体"/>
              <a:ea typeface="华文黑体"/>
              <a:cs typeface="华文黑体"/>
            </a:endParaRPr>
          </a:p>
          <a:p>
            <a:endParaRPr lang="en-US" sz="2800" dirty="0">
              <a:solidFill>
                <a:schemeClr val="tx1"/>
              </a:solidFill>
              <a:latin typeface="华文黑体"/>
              <a:ea typeface="华文黑体"/>
              <a:cs typeface="华文黑体"/>
            </a:endParaRPr>
          </a:p>
        </p:txBody>
      </p:sp>
    </p:spTree>
    <p:extLst>
      <p:ext uri="{BB962C8B-B14F-4D97-AF65-F5344CB8AC3E}">
        <p14:creationId xmlns:p14="http://schemas.microsoft.com/office/powerpoint/2010/main" val="4287963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2011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6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30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934629_167118636806439_178482338_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596" y="1734128"/>
            <a:ext cx="3714807" cy="512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2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2011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7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7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45974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dirty="0">
                <a:latin typeface="华文黑体"/>
                <a:ea typeface="华文黑体"/>
                <a:cs typeface="华文黑体"/>
              </a:rPr>
              <a:t>建谱研习班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en-US" dirty="0">
                <a:latin typeface="华文黑体"/>
                <a:ea typeface="华文黑体"/>
                <a:cs typeface="华文黑体"/>
              </a:rPr>
              <a:t>2 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 </a:t>
            </a:r>
            <a:r>
              <a:rPr lang="en-US" dirty="0">
                <a:latin typeface="华文黑体"/>
                <a:ea typeface="华文黑体"/>
                <a:cs typeface="华文黑体"/>
              </a:rPr>
              <a:t>陈业雄</a:t>
            </a:r>
          </a:p>
          <a:p>
            <a:pPr marL="0" indent="0" algn="ctr">
              <a:buNone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993322_166800956838207_961412013_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4290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6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华文黑体"/>
                <a:ea typeface="华文黑体"/>
                <a:cs typeface="华文黑体"/>
              </a:rPr>
              <a:t>2014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dirty="0">
                <a:latin typeface="华文黑体"/>
                <a:ea typeface="华文黑体"/>
                <a:cs typeface="华文黑体"/>
              </a:rPr>
              <a:t>3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dirty="0">
                <a:latin typeface="华文黑体"/>
                <a:ea typeface="华文黑体"/>
                <a:cs typeface="华文黑体"/>
              </a:rPr>
              <a:t>14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1920067_246741695510799_1117351560_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44" y="2903611"/>
            <a:ext cx="2973113" cy="3954387"/>
          </a:xfrm>
          <a:prstGeom prst="rect">
            <a:avLst/>
          </a:prstGeom>
        </p:spPr>
      </p:pic>
      <p:pic>
        <p:nvPicPr>
          <p:cNvPr id="5" name="Picture 4" descr="1654965_246742602177375_1846733112_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108" y="2903612"/>
            <a:ext cx="4296634" cy="3222475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45974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dirty="0">
                <a:latin typeface="华文黑体"/>
                <a:ea typeface="华文黑体"/>
                <a:cs typeface="华文黑体"/>
              </a:rPr>
              <a:t>建谱研习班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》3</a:t>
            </a:r>
            <a:r>
              <a:rPr lang="en-US" dirty="0">
                <a:latin typeface="华文黑体"/>
                <a:ea typeface="华文黑体"/>
                <a:cs typeface="华文黑体"/>
              </a:rPr>
              <a:t> 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 </a:t>
            </a:r>
            <a:r>
              <a:rPr lang="en-US" dirty="0">
                <a:latin typeface="华文黑体"/>
                <a:ea typeface="华文黑体"/>
                <a:cs typeface="华文黑体"/>
              </a:rPr>
              <a:t>陈业雄</a:t>
            </a:r>
          </a:p>
          <a:p>
            <a:pPr marL="0" indent="0" algn="ctr">
              <a:buNone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</p:spTree>
    <p:extLst>
      <p:ext uri="{BB962C8B-B14F-4D97-AF65-F5344CB8AC3E}">
        <p14:creationId xmlns:p14="http://schemas.microsoft.com/office/powerpoint/2010/main" val="526861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2014年4月10日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97949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dirty="0">
                <a:latin typeface="华文黑体"/>
                <a:ea typeface="华文黑体"/>
                <a:cs typeface="华文黑体"/>
              </a:rPr>
              <a:t>建谱研习班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4</a:t>
            </a:r>
            <a:endParaRPr lang="en-US" altLang="zh-CN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r>
              <a:rPr lang="en-US" dirty="0">
                <a:latin typeface="华文黑体"/>
                <a:ea typeface="华文黑体"/>
                <a:cs typeface="华文黑体"/>
              </a:rPr>
              <a:t>1. 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dirty="0">
                <a:latin typeface="华文黑体"/>
                <a:ea typeface="华文黑体"/>
                <a:cs typeface="华文黑体"/>
              </a:rPr>
              <a:t>修建家谱经验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分享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 </a:t>
            </a:r>
            <a:r>
              <a:rPr lang="en-US" dirty="0">
                <a:latin typeface="华文黑体"/>
                <a:ea typeface="华文黑体"/>
                <a:cs typeface="华文黑体"/>
              </a:rPr>
              <a:t>龙子权</a:t>
            </a:r>
            <a:br>
              <a:rPr lang="en-US" dirty="0">
                <a:latin typeface="华文黑体"/>
                <a:ea typeface="华文黑体"/>
                <a:cs typeface="华文黑体"/>
              </a:rPr>
            </a:br>
            <a:r>
              <a:rPr lang="en-US" dirty="0">
                <a:latin typeface="华文黑体"/>
                <a:ea typeface="华文黑体"/>
                <a:cs typeface="华文黑体"/>
              </a:rPr>
              <a:t>2. 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dirty="0">
                <a:latin typeface="华文黑体"/>
                <a:ea typeface="华文黑体"/>
                <a:cs typeface="华文黑体"/>
              </a:rPr>
              <a:t>族谱规格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 </a:t>
            </a:r>
            <a:r>
              <a:rPr lang="en-US" dirty="0">
                <a:latin typeface="华文黑体"/>
                <a:ea typeface="华文黑体"/>
                <a:cs typeface="华文黑体"/>
              </a:rPr>
              <a:t>陈业雄老师</a:t>
            </a:r>
          </a:p>
          <a:p>
            <a:pPr marL="0" indent="0" algn="ctr">
              <a:buNone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1623666_254644051387230_628400092794715768_n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27"/>
          <a:stretch/>
        </p:blipFill>
        <p:spPr>
          <a:xfrm>
            <a:off x="2331753" y="3933978"/>
            <a:ext cx="4571999" cy="292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61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2014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dirty="0">
                <a:latin typeface="华文黑体"/>
                <a:ea typeface="华文黑体"/>
                <a:cs typeface="华文黑体"/>
              </a:rPr>
              <a:t>6月13日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6341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dirty="0">
                <a:latin typeface="华文黑体"/>
                <a:ea typeface="华文黑体"/>
                <a:cs typeface="华文黑体"/>
              </a:rPr>
              <a:t>建谱研习班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5</a:t>
            </a:r>
            <a:endParaRPr lang="en-US" dirty="0">
              <a:latin typeface="华文黑体"/>
              <a:ea typeface="华文黑体"/>
              <a:cs typeface="华文黑体"/>
            </a:endParaRPr>
          </a:p>
          <a:p>
            <a:pPr marL="514350" indent="-514350" algn="ctr">
              <a:buFont typeface="+mj-lt"/>
              <a:buAutoNum type="arabicPeriod"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dirty="0">
                <a:latin typeface="华文黑体"/>
                <a:ea typeface="华文黑体"/>
                <a:cs typeface="华文黑体"/>
              </a:rPr>
              <a:t>袁姓故事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 </a:t>
            </a:r>
            <a:r>
              <a:rPr lang="en-US" dirty="0">
                <a:latin typeface="华文黑体"/>
                <a:ea typeface="华文黑体"/>
                <a:cs typeface="华文黑体"/>
              </a:rPr>
              <a:t>袁丽芳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dirty="0">
                <a:latin typeface="华文黑体"/>
                <a:ea typeface="华文黑体"/>
                <a:cs typeface="华文黑体"/>
              </a:rPr>
              <a:t>什么是族谱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dirty="0">
                <a:latin typeface="华文黑体"/>
                <a:ea typeface="华文黑体"/>
                <a:cs typeface="华文黑体"/>
              </a:rPr>
              <a:t>陈业雄老师</a:t>
            </a:r>
          </a:p>
          <a:p>
            <a:pPr marL="514350" indent="-514350" algn="ctr">
              <a:buFont typeface="+mj-lt"/>
              <a:buAutoNum type="arabicPeriod"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57549_271626529688982_7415508342982522814_o-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930" y="3440948"/>
            <a:ext cx="4556069" cy="341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5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2014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9</a:t>
            </a:r>
            <a:r>
              <a:rPr 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27</a:t>
            </a:r>
            <a:r>
              <a:rPr lang="en-US" dirty="0">
                <a:latin typeface="华文黑体"/>
                <a:ea typeface="华文黑体"/>
                <a:cs typeface="华文黑体"/>
              </a:rPr>
              <a:t>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41774"/>
            <a:ext cx="8229600" cy="16634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华</a:t>
            </a:r>
            <a:r>
              <a:rPr lang="en-US" dirty="0">
                <a:latin typeface="华文黑体"/>
                <a:ea typeface="华文黑体"/>
                <a:cs typeface="华文黑体"/>
              </a:rPr>
              <a:t>族谱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系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dirty="0">
                <a:latin typeface="华文黑体"/>
                <a:ea typeface="华文黑体"/>
                <a:cs typeface="华文黑体"/>
              </a:rPr>
              <a:t>陈业雄老师</a:t>
            </a:r>
          </a:p>
          <a:p>
            <a:pPr marL="0" indent="0" algn="ctr">
              <a:buNone/>
            </a:pPr>
            <a:r>
              <a:rPr lang="zh-CN" altLang="en-US" dirty="0">
                <a:latin typeface="华文黑体"/>
                <a:ea typeface="华文黑体"/>
                <a:cs typeface="华文黑体"/>
              </a:rPr>
              <a:t>国家图书馆</a:t>
            </a:r>
            <a:endParaRPr lang="en-US" dirty="0">
              <a:latin typeface="华文黑体"/>
              <a:ea typeface="华文黑体"/>
              <a:cs typeface="华文黑体"/>
            </a:endParaRPr>
          </a:p>
          <a:p>
            <a:pPr marL="514350" indent="-514350" algn="ctr">
              <a:buFont typeface="+mj-lt"/>
              <a:buAutoNum type="arabicPeriod"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5" name="Picture 4" descr="IMG_379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04" b="45466"/>
          <a:stretch/>
        </p:blipFill>
        <p:spPr>
          <a:xfrm>
            <a:off x="1410546" y="3982492"/>
            <a:ext cx="3857625" cy="2875508"/>
          </a:xfrm>
          <a:prstGeom prst="rect">
            <a:avLst/>
          </a:prstGeom>
        </p:spPr>
      </p:pic>
      <p:pic>
        <p:nvPicPr>
          <p:cNvPr id="6" name="Picture 5" descr="IMG_379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170" y="3982492"/>
            <a:ext cx="2156631" cy="287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53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2014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dirty="0">
                <a:latin typeface="华文黑体"/>
                <a:ea typeface="华文黑体"/>
                <a:cs typeface="华文黑体"/>
              </a:rPr>
              <a:t>10月24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8171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dirty="0">
                <a:latin typeface="华文黑体"/>
                <a:ea typeface="华文黑体"/>
                <a:cs typeface="华文黑体"/>
              </a:rPr>
              <a:t>建谱研习班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6</a:t>
            </a:r>
            <a:r>
              <a:rPr lang="en-US" dirty="0">
                <a:latin typeface="华文黑体"/>
                <a:ea typeface="华文黑体"/>
                <a:cs typeface="华文黑体"/>
              </a:rPr>
              <a:t> 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修谱经验分享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 </a:t>
            </a:r>
            <a:r>
              <a:rPr lang="en-US" dirty="0">
                <a:latin typeface="华文黑体"/>
                <a:ea typeface="华文黑体"/>
                <a:cs typeface="华文黑体"/>
              </a:rPr>
              <a:t>黄良南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dirty="0">
                <a:latin typeface="华文黑体"/>
                <a:ea typeface="华文黑体"/>
                <a:cs typeface="华文黑体"/>
              </a:rPr>
              <a:t>族谱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格式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dirty="0">
                <a:latin typeface="华文黑体"/>
                <a:ea typeface="华文黑体"/>
                <a:cs typeface="华文黑体"/>
              </a:rPr>
              <a:t>陈业雄老师</a:t>
            </a:r>
          </a:p>
          <a:p>
            <a:pPr marL="514350" indent="-514350" algn="ctr">
              <a:buFont typeface="+mj-lt"/>
              <a:buAutoNum type="arabicPeriod"/>
            </a:pPr>
            <a:endParaRPr lang="en-US" dirty="0">
              <a:latin typeface="华文黑体"/>
              <a:ea typeface="华文黑体"/>
              <a:cs typeface="华文黑体"/>
            </a:endParaRPr>
          </a:p>
          <a:p>
            <a:pPr marL="514350" indent="-514350" algn="ctr">
              <a:buFont typeface="+mj-lt"/>
              <a:buAutoNum type="arabicPeriod"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10606211_333495903502044_8516634881992670858_n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0"/>
          <a:stretch/>
        </p:blipFill>
        <p:spPr>
          <a:xfrm>
            <a:off x="4572000" y="3828130"/>
            <a:ext cx="4572000" cy="302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60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华文黑体"/>
                <a:ea typeface="华文黑体"/>
                <a:cs typeface="华文黑体"/>
              </a:rPr>
              <a:t>201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5</a:t>
            </a:r>
            <a:r>
              <a:rPr 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1</a:t>
            </a:r>
            <a:r>
              <a:rPr 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8</a:t>
            </a:r>
            <a:r>
              <a:rPr lang="en-US" dirty="0">
                <a:latin typeface="华文黑体"/>
                <a:ea typeface="华文黑体"/>
                <a:cs typeface="华文黑体"/>
              </a:rPr>
              <a:t>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63615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开族传世宗</a:t>
            </a:r>
            <a:r>
              <a:rPr lang="en-US" dirty="0">
                <a:latin typeface="华文黑体"/>
                <a:ea typeface="华文黑体"/>
                <a:cs typeface="华文黑体"/>
              </a:rPr>
              <a:t>谱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 </a:t>
            </a:r>
            <a:r>
              <a:rPr lang="en-US" dirty="0">
                <a:latin typeface="华文黑体"/>
                <a:ea typeface="华文黑体"/>
                <a:cs typeface="华文黑体"/>
              </a:rPr>
              <a:t>陈业雄老师</a:t>
            </a:r>
          </a:p>
          <a:p>
            <a:pPr marL="0" indent="0" algn="ctr">
              <a:buNone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8" name="Picture 7" descr="Slide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264" y="2490020"/>
            <a:ext cx="3023986" cy="436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86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华文黑体"/>
                <a:ea typeface="华文黑体"/>
                <a:cs typeface="华文黑体"/>
              </a:rPr>
              <a:t>201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6</a:t>
            </a:r>
            <a:r>
              <a:rPr 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1</a:t>
            </a:r>
            <a:r>
              <a:rPr 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8</a:t>
            </a:r>
            <a:r>
              <a:rPr lang="en-US" dirty="0">
                <a:latin typeface="华文黑体"/>
                <a:ea typeface="华文黑体"/>
                <a:cs typeface="华文黑体"/>
              </a:rPr>
              <a:t>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63615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开族传世宗</a:t>
            </a:r>
            <a:r>
              <a:rPr lang="en-US" dirty="0">
                <a:latin typeface="华文黑体"/>
                <a:ea typeface="华文黑体"/>
                <a:cs typeface="华文黑体"/>
              </a:rPr>
              <a:t>谱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 </a:t>
            </a:r>
            <a:r>
              <a:rPr lang="en-US" dirty="0">
                <a:latin typeface="华文黑体"/>
                <a:ea typeface="华文黑体"/>
                <a:cs typeface="华文黑体"/>
              </a:rPr>
              <a:t>陈业雄老师</a:t>
            </a:r>
          </a:p>
          <a:p>
            <a:pPr marL="0" indent="0" algn="ctr">
              <a:buNone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12493848_10153891302241457_6583795990658578520_o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3"/>
          <a:stretch/>
        </p:blipFill>
        <p:spPr>
          <a:xfrm>
            <a:off x="4846638" y="3827462"/>
            <a:ext cx="4297362" cy="303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63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201</a:t>
            </a:r>
            <a:r>
              <a:rPr lang="en-US" altLang="zh-CN" dirty="0"/>
              <a:t>6</a:t>
            </a:r>
            <a:r>
              <a:rPr lang="en-US" dirty="0"/>
              <a:t>年</a:t>
            </a:r>
            <a:r>
              <a:rPr lang="en-US" altLang="zh-CN" dirty="0"/>
              <a:t>3</a:t>
            </a:r>
            <a:r>
              <a:rPr lang="en-US" dirty="0"/>
              <a:t>月1</a:t>
            </a:r>
            <a:r>
              <a:rPr lang="en-US" altLang="zh-CN" dirty="0"/>
              <a:t>6</a:t>
            </a:r>
            <a:r>
              <a:rPr lang="en-US" dirty="0"/>
              <a:t>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69462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dirty="0">
                <a:latin typeface="华文黑体"/>
                <a:ea typeface="华文黑体"/>
                <a:cs typeface="华文黑体"/>
              </a:rPr>
              <a:t>家谱，修养与家庭文化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 </a:t>
            </a:r>
            <a:r>
              <a:rPr lang="en-US" dirty="0">
                <a:latin typeface="华文黑体"/>
                <a:ea typeface="华文黑体"/>
                <a:cs typeface="华文黑体"/>
              </a:rPr>
              <a:t>陈业雄老师</a:t>
            </a:r>
          </a:p>
          <a:p>
            <a:pPr marL="0" indent="0" algn="ctr">
              <a:buNone/>
            </a:pPr>
            <a:r>
              <a:rPr lang="zh-CN" altLang="en-US" dirty="0">
                <a:latin typeface="华文黑体"/>
                <a:ea typeface="华文黑体"/>
                <a:cs typeface="华文黑体"/>
              </a:rPr>
              <a:t>喜耀文化学会</a:t>
            </a:r>
            <a:endParaRPr lang="en-US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5" name="Picture 4" descr="1270563_10154053467436457_7002044732554740269_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7013"/>
            <a:ext cx="3761315" cy="2820986"/>
          </a:xfrm>
          <a:prstGeom prst="rect">
            <a:avLst/>
          </a:prstGeom>
        </p:spPr>
      </p:pic>
      <p:pic>
        <p:nvPicPr>
          <p:cNvPr id="8" name="Picture 7" descr="10604094_10154053467501457_152186114378207329_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846" y="4037012"/>
            <a:ext cx="4142153" cy="282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91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华文黑体"/>
                <a:ea typeface="华文黑体"/>
                <a:cs typeface="华文黑体"/>
              </a:rPr>
              <a:t>201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6</a:t>
            </a:r>
            <a:r>
              <a:rPr 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7</a:t>
            </a:r>
            <a:r>
              <a:rPr 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26</a:t>
            </a:r>
            <a:r>
              <a:rPr lang="en-US" dirty="0">
                <a:latin typeface="华文黑体"/>
                <a:ea typeface="华文黑体"/>
                <a:cs typeface="华文黑体"/>
              </a:rPr>
              <a:t>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9305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zh-CN" altLang="en-US" dirty="0">
                <a:latin typeface="华文黑体"/>
                <a:ea typeface="华文黑体"/>
                <a:cs typeface="华文黑体"/>
              </a:rPr>
              <a:t>陈老师发起成立根缘文化学会</a:t>
            </a:r>
            <a:endParaRPr lang="en-US" altLang="zh-CN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r>
              <a:rPr lang="zh-CN" altLang="en-US" dirty="0">
                <a:latin typeface="华文黑体"/>
                <a:ea typeface="华文黑体"/>
                <a:cs typeface="华文黑体"/>
              </a:rPr>
              <a:t>锺氏公会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7" name="Picture 6" descr="13654307_10154399150356457_4411506978072302091_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713" y="3837394"/>
            <a:ext cx="4982287" cy="3020606"/>
          </a:xfrm>
          <a:prstGeom prst="rect">
            <a:avLst/>
          </a:prstGeom>
        </p:spPr>
      </p:pic>
      <p:pic>
        <p:nvPicPr>
          <p:cNvPr id="10" name="Picture 9" descr="13872766_10154399228431457_5411452947636584097_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825876"/>
            <a:ext cx="4161713" cy="302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59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华文黑体"/>
                <a:ea typeface="华文黑体"/>
                <a:cs typeface="华文黑体"/>
              </a:rPr>
              <a:t>201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6</a:t>
            </a:r>
            <a:r>
              <a:rPr 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1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0</a:t>
            </a:r>
            <a:r>
              <a:rPr lang="en-US" dirty="0">
                <a:latin typeface="华文黑体"/>
                <a:ea typeface="华文黑体"/>
                <a:cs typeface="华文黑体"/>
              </a:rPr>
              <a:t>月1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5</a:t>
            </a:r>
            <a:r>
              <a:rPr lang="en-US" dirty="0">
                <a:latin typeface="华文黑体"/>
                <a:ea typeface="华文黑体"/>
                <a:cs typeface="华文黑体"/>
              </a:rPr>
              <a:t>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09811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>
                <a:latin typeface="华文黑体"/>
                <a:ea typeface="华文黑体"/>
                <a:cs typeface="华文黑体"/>
              </a:rPr>
              <a:t>第1场: 家谱的现代意义/陈业雄</a:t>
            </a:r>
          </a:p>
          <a:p>
            <a:pPr marL="0" indent="0" algn="ctr">
              <a:buNone/>
            </a:pPr>
            <a:r>
              <a:rPr lang="en-US" dirty="0">
                <a:latin typeface="华文黑体"/>
                <a:ea typeface="华文黑体"/>
                <a:cs typeface="华文黑体"/>
              </a:rPr>
              <a:t>第2场: 我如何建修家谱/黄良南</a:t>
            </a:r>
          </a:p>
          <a:p>
            <a:pPr marL="0" indent="0" algn="ctr">
              <a:buNone/>
            </a:pPr>
            <a:r>
              <a:rPr lang="en-US" dirty="0">
                <a:latin typeface="华文黑体"/>
                <a:ea typeface="华文黑体"/>
                <a:cs typeface="华文黑体"/>
              </a:rPr>
              <a:t>第3场: 现代化家谱格式/锺骏源</a:t>
            </a:r>
          </a:p>
          <a:p>
            <a:pPr marL="0" indent="0" algn="ctr">
              <a:buNone/>
            </a:pPr>
            <a:endParaRPr lang="en-US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r>
              <a:rPr lang="en-US" dirty="0">
                <a:latin typeface="华文黑体"/>
                <a:ea typeface="华文黑体"/>
                <a:cs typeface="华文黑体"/>
              </a:rPr>
              <a:t>勿洛民众俱乐部</a:t>
            </a:r>
            <a:br>
              <a:rPr lang="en-US" dirty="0">
                <a:latin typeface="华文黑体"/>
                <a:ea typeface="华文黑体"/>
                <a:cs typeface="华文黑体"/>
              </a:rPr>
            </a:br>
            <a:endParaRPr lang="en-US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14671263_10154633524011457_6988135135771308402_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433" y="4698316"/>
            <a:ext cx="3005817" cy="2159684"/>
          </a:xfrm>
          <a:prstGeom prst="rect">
            <a:avLst/>
          </a:prstGeom>
        </p:spPr>
      </p:pic>
      <p:pic>
        <p:nvPicPr>
          <p:cNvPr id="5" name="Picture 4" descr="14650490_10154633524026457_4467351729285887700_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422" y="4698316"/>
            <a:ext cx="2879578" cy="2159684"/>
          </a:xfrm>
          <a:prstGeom prst="rect">
            <a:avLst/>
          </a:prstGeom>
        </p:spPr>
      </p:pic>
      <p:pic>
        <p:nvPicPr>
          <p:cNvPr id="6" name="Picture 5" descr="14600875_10154633523991457_2432017704359298061_n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98316"/>
            <a:ext cx="2879578" cy="215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61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2017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5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1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7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日正式注册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858009"/>
            <a:ext cx="82296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华文黑体"/>
                <a:ea typeface="华文黑体"/>
                <a:cs typeface="华文黑体"/>
              </a:rPr>
              <a:t>根缘文化学会</a:t>
            </a:r>
            <a:r>
              <a:rPr lang="en-US" altLang="zh-CN" sz="3200" dirty="0">
                <a:latin typeface="华文黑体"/>
                <a:ea typeface="华文黑体"/>
                <a:cs typeface="华文黑体"/>
              </a:rPr>
              <a:t>9</a:t>
            </a:r>
            <a:r>
              <a:rPr lang="zh-CN" altLang="en-US" sz="3200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sz="3200" dirty="0">
                <a:latin typeface="华文黑体"/>
                <a:ea typeface="华文黑体"/>
                <a:cs typeface="华文黑体"/>
              </a:rPr>
              <a:t>11</a:t>
            </a:r>
            <a:r>
              <a:rPr lang="zh-CN" altLang="en-US" sz="3200" dirty="0">
                <a:latin typeface="华文黑体"/>
                <a:ea typeface="华文黑体"/>
                <a:cs typeface="华文黑体"/>
              </a:rPr>
              <a:t>日获批成立</a:t>
            </a:r>
            <a:endParaRPr lang="en-US" sz="3200" dirty="0">
              <a:latin typeface="华文黑体"/>
              <a:ea typeface="华文黑体"/>
              <a:cs typeface="华文黑体"/>
            </a:endParaRPr>
          </a:p>
          <a:p>
            <a:pPr algn="ctr"/>
            <a:endParaRPr lang="en-US" sz="3200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6" name="Picture 5" descr="Screen Shot 2019-02-21 at 11.24.15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57766"/>
            <a:ext cx="3785717" cy="37002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根文化学会 注册 ROS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182" y="3157766"/>
            <a:ext cx="5183818" cy="370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48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2017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10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29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858009"/>
            <a:ext cx="82296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华文黑体"/>
                <a:ea typeface="华文黑体"/>
                <a:cs typeface="华文黑体"/>
              </a:rPr>
              <a:t>《</a:t>
            </a:r>
            <a:r>
              <a:rPr lang="zh-CN" altLang="en-US" sz="3200" dirty="0">
                <a:latin typeface="华文黑体"/>
                <a:ea typeface="华文黑体"/>
                <a:cs typeface="华文黑体"/>
              </a:rPr>
              <a:t>建修</a:t>
            </a:r>
            <a:r>
              <a:rPr lang="en-US" sz="3200" dirty="0">
                <a:latin typeface="华文黑体"/>
                <a:ea typeface="华文黑体"/>
                <a:cs typeface="华文黑体"/>
              </a:rPr>
              <a:t>家谱</a:t>
            </a:r>
            <a:r>
              <a:rPr lang="zh-CN" altLang="en-US" sz="3200" dirty="0">
                <a:latin typeface="华文黑体"/>
                <a:ea typeface="华文黑体"/>
                <a:cs typeface="华文黑体"/>
              </a:rPr>
              <a:t>，人人有责</a:t>
            </a:r>
            <a:r>
              <a:rPr lang="en-US" sz="3200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sz="3200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sz="3200" dirty="0">
                <a:latin typeface="华文黑体"/>
                <a:ea typeface="华文黑体"/>
                <a:cs typeface="华文黑体"/>
              </a:rPr>
              <a:t>陈业雄</a:t>
            </a:r>
          </a:p>
          <a:p>
            <a:pPr algn="ctr"/>
            <a:r>
              <a:rPr lang="zh-CN" altLang="en-US" sz="3200" dirty="0">
                <a:latin typeface="华文黑体"/>
                <a:ea typeface="华文黑体"/>
                <a:cs typeface="华文黑体"/>
              </a:rPr>
              <a:t>新加坡南洋理工大学</a:t>
            </a:r>
            <a:endParaRPr lang="en-US" sz="3200" dirty="0">
              <a:latin typeface="华文黑体"/>
              <a:ea typeface="华文黑体"/>
              <a:cs typeface="华文黑体"/>
            </a:endParaRPr>
          </a:p>
          <a:p>
            <a:pPr algn="ctr"/>
            <a:endParaRPr lang="en-US" sz="3200" dirty="0">
              <a:latin typeface="华文黑体"/>
              <a:ea typeface="华文黑体"/>
              <a:cs typeface="华文黑体"/>
            </a:endParaRPr>
          </a:p>
          <a:p>
            <a:pPr algn="ctr"/>
            <a:endParaRPr lang="en-US" sz="3200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8" name="Picture 7" descr="Screen Shot 2019-02-19 at 9.28.3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514850"/>
            <a:ext cx="2672674" cy="1953758"/>
          </a:xfrm>
          <a:prstGeom prst="rect">
            <a:avLst/>
          </a:prstGeom>
        </p:spPr>
      </p:pic>
      <p:pic>
        <p:nvPicPr>
          <p:cNvPr id="9" name="Picture 8" descr="23270266_10155912035211457_8158790278031320503_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676" y="4514850"/>
            <a:ext cx="2931352" cy="1953758"/>
          </a:xfrm>
          <a:prstGeom prst="rect">
            <a:avLst/>
          </a:prstGeom>
        </p:spPr>
      </p:pic>
      <p:pic>
        <p:nvPicPr>
          <p:cNvPr id="10" name="Picture 9" descr="23275361_10155912035686457_6890000666743101697_o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34" r="24958" b="18453"/>
          <a:stretch/>
        </p:blipFill>
        <p:spPr>
          <a:xfrm>
            <a:off x="5604029" y="4529710"/>
            <a:ext cx="3082772" cy="193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38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1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26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Content Placeholder 3" descr="26991771_809957315855898_4005928972542500127_n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6" b="13336"/>
          <a:stretch>
            <a:fillRect/>
          </a:stretch>
        </p:blipFill>
        <p:spPr>
          <a:xfrm>
            <a:off x="4569403" y="4342149"/>
            <a:ext cx="4574597" cy="2515852"/>
          </a:xfrm>
        </p:spPr>
      </p:pic>
      <p:sp>
        <p:nvSpPr>
          <p:cNvPr id="5" name="TextBox 4"/>
          <p:cNvSpPr txBox="1"/>
          <p:nvPr/>
        </p:nvSpPr>
        <p:spPr>
          <a:xfrm>
            <a:off x="457200" y="1858009"/>
            <a:ext cx="822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如何建修相册家谱》</a:t>
            </a:r>
            <a:r>
              <a:rPr lang="zh-CN" altLang="en-US" sz="2800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陈业雄</a:t>
            </a:r>
          </a:p>
          <a:p>
            <a:pPr algn="ctr"/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《</a:t>
            </a:r>
            <a:r>
              <a:rPr lang="zh-CN" altLang="en-US" sz="2800" dirty="0">
                <a:latin typeface="华文黑体"/>
                <a:ea typeface="华文黑体"/>
                <a:cs typeface="华文黑体"/>
              </a:rPr>
              <a:t>建修家谱分享</a:t>
            </a:r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sz="2800" dirty="0">
                <a:latin typeface="华文黑体"/>
                <a:ea typeface="华文黑体"/>
                <a:cs typeface="华文黑体"/>
              </a:rPr>
              <a:t>－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龙子权</a:t>
            </a:r>
          </a:p>
          <a:p>
            <a:pPr algn="ctr"/>
            <a:endParaRPr lang="en-US" sz="2800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6" name="Picture 5" descr="15036734_809957299189233_2874890209930119954_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532" y="4342148"/>
            <a:ext cx="3354468" cy="25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5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2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22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858009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华文黑体"/>
                <a:ea typeface="华文黑体"/>
                <a:cs typeface="华文黑体"/>
              </a:rPr>
              <a:t>我会新年聚餐</a:t>
            </a:r>
            <a:endParaRPr lang="en-US" altLang="zh-CN" sz="2800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7" name="Picture 6" descr="28055680_10156221778526457_7050990503172031993_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813" y="3369259"/>
            <a:ext cx="5316177" cy="348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89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华文黑体"/>
                <a:ea typeface="华文黑体"/>
                <a:cs typeface="华文黑体"/>
              </a:rPr>
              <a:t>2018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dirty="0">
                <a:latin typeface="华文黑体"/>
                <a:ea typeface="华文黑体"/>
                <a:cs typeface="华文黑体"/>
              </a:rPr>
              <a:t>3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dirty="0">
                <a:latin typeface="华文黑体"/>
                <a:ea typeface="华文黑体"/>
                <a:cs typeface="华文黑体"/>
              </a:rPr>
              <a:t>6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63615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dirty="0">
                <a:latin typeface="华文黑体"/>
                <a:ea typeface="华文黑体"/>
                <a:cs typeface="华文黑体"/>
              </a:rPr>
              <a:t>我会受邀</a:t>
            </a:r>
            <a:r>
              <a:rPr lang="en-US" dirty="0">
                <a:latin typeface="华文黑体"/>
                <a:ea typeface="华文黑体"/>
                <a:cs typeface="华文黑体"/>
              </a:rPr>
              <a:t>广惠肇碧山亭文物馆开幕</a:t>
            </a:r>
          </a:p>
          <a:p>
            <a:pPr marL="0" indent="0" algn="ctr">
              <a:buNone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34410126_428298990971823_7102195351305584640_n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74"/>
          <a:stretch/>
        </p:blipFill>
        <p:spPr>
          <a:xfrm>
            <a:off x="4462854" y="3785079"/>
            <a:ext cx="4681146" cy="307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08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dirty="0">
                <a:latin typeface="华文黑体"/>
                <a:ea typeface="华文黑体"/>
                <a:cs typeface="华文黑体"/>
              </a:rPr>
              <a:t>3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dirty="0">
                <a:latin typeface="华文黑体"/>
                <a:ea typeface="华文黑体"/>
                <a:cs typeface="华文黑体"/>
              </a:rPr>
              <a:t>3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0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1069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华文黑体"/>
                <a:ea typeface="华文黑体"/>
                <a:cs typeface="华文黑体"/>
              </a:rPr>
              <a:t>《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如何使用通用软件建修家谱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》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－锺骏源</a:t>
            </a:r>
            <a:endParaRPr lang="en-US" dirty="0">
              <a:latin typeface="华文黑体"/>
              <a:ea typeface="华文黑体"/>
              <a:cs typeface="华文黑体"/>
            </a:endParaRPr>
          </a:p>
          <a:p>
            <a:pPr marL="0" indent="0">
              <a:buNone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5" name="Picture 4" descr="29511940_10156310931851457_5604327981654859600_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783" y="2875510"/>
            <a:ext cx="2754555" cy="398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60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dirty="0">
                <a:latin typeface="华文黑体"/>
                <a:ea typeface="华文黑体"/>
                <a:cs typeface="华文黑体"/>
              </a:rPr>
              <a:t>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5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5986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2400" dirty="0">
                <a:latin typeface="华文黑体"/>
                <a:ea typeface="华文黑体"/>
                <a:cs typeface="华文黑体"/>
              </a:rPr>
              <a:t>讲座与新执委就职仪式</a:t>
            </a:r>
            <a:r>
              <a:rPr lang="en-US" altLang="zh-CN" sz="2400" dirty="0">
                <a:latin typeface="华文黑体"/>
                <a:ea typeface="华文黑体"/>
                <a:cs typeface="华文黑体"/>
              </a:rPr>
              <a:t>/</a:t>
            </a:r>
            <a:r>
              <a:rPr lang="zh-CN" altLang="en-US" sz="2400" dirty="0">
                <a:latin typeface="华文黑体"/>
                <a:ea typeface="华文黑体"/>
                <a:cs typeface="华文黑体"/>
              </a:rPr>
              <a:t>国家图书馆</a:t>
            </a:r>
            <a:endParaRPr lang="en-US" sz="2400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endParaRPr lang="en-US" sz="2400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r>
              <a:rPr lang="en-US" altLang="zh-CN" sz="2400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sz="2400" dirty="0">
                <a:latin typeface="华文黑体"/>
                <a:ea typeface="华文黑体"/>
                <a:cs typeface="华文黑体"/>
              </a:rPr>
              <a:t>华社华团新的回顾与展望</a:t>
            </a:r>
            <a:r>
              <a:rPr lang="en-US" altLang="zh-CN" sz="2400" dirty="0">
                <a:latin typeface="华文黑体"/>
                <a:ea typeface="华文黑体"/>
                <a:cs typeface="华文黑体"/>
              </a:rPr>
              <a:t>》 </a:t>
            </a:r>
            <a:r>
              <a:rPr lang="zh-CN" altLang="en-US" sz="2400" dirty="0">
                <a:latin typeface="华文黑体"/>
                <a:ea typeface="华文黑体"/>
                <a:cs typeface="华文黑体"/>
              </a:rPr>
              <a:t>－ </a:t>
            </a:r>
            <a:r>
              <a:rPr lang="en-US" sz="2400" dirty="0">
                <a:latin typeface="华文黑体"/>
                <a:ea typeface="华文黑体"/>
                <a:cs typeface="华文黑体"/>
              </a:rPr>
              <a:t>主讲人：游俊豪 教授</a:t>
            </a:r>
            <a:br>
              <a:rPr lang="en-US" sz="2400" dirty="0">
                <a:latin typeface="华文黑体"/>
                <a:ea typeface="华文黑体"/>
                <a:cs typeface="华文黑体"/>
              </a:rPr>
            </a:br>
            <a:r>
              <a:rPr lang="en-US" sz="1600" dirty="0">
                <a:latin typeface="华文黑体"/>
                <a:ea typeface="华文黑体"/>
                <a:cs typeface="华文黑体"/>
              </a:rPr>
              <a:t>新加坡南洋理工大学中文系副教授/华裔馆馆长</a:t>
            </a:r>
            <a:br>
              <a:rPr lang="en-US" sz="1600" dirty="0">
                <a:latin typeface="华文黑体"/>
                <a:ea typeface="华文黑体"/>
                <a:cs typeface="华文黑体"/>
              </a:rPr>
            </a:br>
            <a:br>
              <a:rPr lang="en-US" sz="2400" dirty="0">
                <a:latin typeface="华文黑体"/>
                <a:ea typeface="华文黑体"/>
                <a:cs typeface="华文黑体"/>
              </a:rPr>
            </a:br>
            <a:r>
              <a:rPr lang="en-US" sz="2400" dirty="0">
                <a:latin typeface="华文黑体"/>
                <a:ea typeface="华文黑体"/>
                <a:cs typeface="华文黑体"/>
              </a:rPr>
              <a:t>《现代化相册家谱》</a:t>
            </a:r>
            <a:r>
              <a:rPr lang="zh-CN" altLang="en-US" sz="2400" dirty="0">
                <a:latin typeface="华文黑体"/>
                <a:ea typeface="华文黑体"/>
                <a:cs typeface="华文黑体"/>
              </a:rPr>
              <a:t>－ </a:t>
            </a:r>
            <a:r>
              <a:rPr lang="en-US" sz="2400" dirty="0">
                <a:latin typeface="华文黑体"/>
                <a:ea typeface="华文黑体"/>
                <a:cs typeface="华文黑体"/>
              </a:rPr>
              <a:t>主讲人：黄良南 </a:t>
            </a:r>
          </a:p>
          <a:p>
            <a:pPr marL="0" indent="0" algn="ctr">
              <a:buNone/>
            </a:pPr>
            <a:r>
              <a:rPr lang="en-US" sz="2400" dirty="0">
                <a:latin typeface="华文黑体"/>
                <a:ea typeface="华文黑体"/>
                <a:cs typeface="华文黑体"/>
              </a:rPr>
              <a:t> </a:t>
            </a:r>
          </a:p>
          <a:p>
            <a:pPr marL="0" indent="0" algn="ctr">
              <a:buNone/>
            </a:pPr>
            <a:endParaRPr lang="en-US" sz="2400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38918470_931185283733100_4822156376757239808_n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10"/>
          <a:stretch/>
        </p:blipFill>
        <p:spPr>
          <a:xfrm>
            <a:off x="4846638" y="4339725"/>
            <a:ext cx="4297361" cy="2518274"/>
          </a:xfrm>
          <a:prstGeom prst="rect">
            <a:avLst/>
          </a:prstGeom>
        </p:spPr>
      </p:pic>
      <p:pic>
        <p:nvPicPr>
          <p:cNvPr id="5" name="Picture 4" descr="38814089_931185203733108_1976993950522671104_n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19"/>
          <a:stretch/>
        </p:blipFill>
        <p:spPr>
          <a:xfrm>
            <a:off x="618185" y="4339725"/>
            <a:ext cx="4228453" cy="246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00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10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24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43407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幸福家庭与家庭相谱</a:t>
            </a:r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》</a:t>
            </a:r>
            <a:endParaRPr lang="en-US" sz="2800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r>
              <a:rPr lang="zh-CN" altLang="en-US" sz="2800" dirty="0">
                <a:latin typeface="华文黑体"/>
                <a:ea typeface="华文黑体"/>
                <a:cs typeface="华文黑体"/>
              </a:rPr>
              <a:t>我会秘书锺骏源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受邀上电台958谈论这个话题。</a:t>
            </a:r>
          </a:p>
          <a:p>
            <a:pPr marL="0" indent="0" algn="ctr">
              <a:buNone/>
            </a:pPr>
            <a:endParaRPr lang="en-US" sz="2800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7" name="Picture 6" descr="44733243_534884820313239_1169643500212322304_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9561"/>
            <a:ext cx="2399005" cy="3468440"/>
          </a:xfrm>
          <a:prstGeom prst="rect">
            <a:avLst/>
          </a:prstGeom>
        </p:spPr>
      </p:pic>
      <p:pic>
        <p:nvPicPr>
          <p:cNvPr id="4" name="Picture 3" descr="44729233_10156871275451457_1994453924588814336_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638" y="3634978"/>
            <a:ext cx="4297362" cy="322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31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10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28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398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家族相谱建修经验分享</a:t>
            </a:r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》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主讲：黄良南</a:t>
            </a:r>
          </a:p>
          <a:p>
            <a:pPr marL="0" indent="0" algn="ctr">
              <a:buNone/>
            </a:pPr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建修家谱与幸福家庭经营</a:t>
            </a:r>
            <a:r>
              <a:rPr lang="zh-CN" altLang="en-US" sz="2800" dirty="0">
                <a:latin typeface="华文黑体"/>
                <a:ea typeface="华文黑体"/>
                <a:cs typeface="华文黑体"/>
              </a:rPr>
              <a:t>的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关联</a:t>
            </a:r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》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主讲：</a:t>
            </a:r>
            <a:r>
              <a:rPr lang="zh-CN" altLang="en-US" sz="2800" dirty="0">
                <a:latin typeface="华文黑体"/>
                <a:ea typeface="华文黑体"/>
                <a:cs typeface="华文黑体"/>
              </a:rPr>
              <a:t>锺骏源</a:t>
            </a:r>
            <a:endParaRPr lang="en-US" sz="2800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r>
              <a:rPr lang="zh-CN" altLang="en-US" sz="2800" dirty="0">
                <a:latin typeface="华文黑体"/>
                <a:ea typeface="华文黑体"/>
                <a:cs typeface="华文黑体"/>
              </a:rPr>
              <a:t>地点：琼崖黄氏公会</a:t>
            </a:r>
            <a:endParaRPr lang="en-US" sz="2800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endParaRPr lang="en-US" sz="2800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5" name="Picture 4" descr="45044501_538849879916733_2161690867239223296_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87" y="4010841"/>
            <a:ext cx="3796213" cy="2847160"/>
          </a:xfrm>
          <a:prstGeom prst="rect">
            <a:avLst/>
          </a:prstGeom>
        </p:spPr>
      </p:pic>
      <p:pic>
        <p:nvPicPr>
          <p:cNvPr id="7" name="Picture 6" descr="44733243_534884820313239_1169643500212322304_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7013"/>
            <a:ext cx="1951183" cy="282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649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华文黑体"/>
                <a:ea typeface="华文黑体"/>
                <a:cs typeface="华文黑体"/>
              </a:rPr>
              <a:t>2018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10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28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45002954_537641656704222_5013201843547799552_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7012"/>
            <a:ext cx="4038024" cy="2820987"/>
          </a:xfrm>
          <a:prstGeom prst="rect">
            <a:avLst/>
          </a:prstGeom>
        </p:spPr>
      </p:pic>
      <p:pic>
        <p:nvPicPr>
          <p:cNvPr id="6" name="Picture 5" descr="45085799_538849733250081_6104423866614939648_n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7" t="31970" r="14110" b="4852"/>
          <a:stretch/>
        </p:blipFill>
        <p:spPr>
          <a:xfrm>
            <a:off x="3369190" y="4037011"/>
            <a:ext cx="5767564" cy="2820987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398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家族相谱建修经验分享</a:t>
            </a:r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》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主讲：黄良南</a:t>
            </a:r>
          </a:p>
          <a:p>
            <a:pPr marL="0" indent="0" algn="ctr">
              <a:buNone/>
            </a:pPr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《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建修家谱与幸福家庭经营</a:t>
            </a:r>
            <a:r>
              <a:rPr lang="zh-CN" altLang="en-US" sz="2800" dirty="0">
                <a:latin typeface="华文黑体"/>
                <a:ea typeface="华文黑体"/>
                <a:cs typeface="华文黑体"/>
              </a:rPr>
              <a:t>的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关联</a:t>
            </a:r>
            <a:r>
              <a:rPr lang="en-US" altLang="zh-CN" sz="2800" dirty="0">
                <a:latin typeface="华文黑体"/>
                <a:ea typeface="华文黑体"/>
                <a:cs typeface="华文黑体"/>
              </a:rPr>
              <a:t>》</a:t>
            </a:r>
            <a:r>
              <a:rPr lang="en-US" sz="2800" dirty="0">
                <a:latin typeface="华文黑体"/>
                <a:ea typeface="华文黑体"/>
                <a:cs typeface="华文黑体"/>
              </a:rPr>
              <a:t>主讲：</a:t>
            </a:r>
            <a:r>
              <a:rPr lang="zh-CN" altLang="en-US" sz="2800" dirty="0">
                <a:latin typeface="华文黑体"/>
                <a:ea typeface="华文黑体"/>
                <a:cs typeface="华文黑体"/>
              </a:rPr>
              <a:t>锺骏源</a:t>
            </a:r>
            <a:endParaRPr lang="en-US" sz="2800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r>
              <a:rPr lang="zh-CN" altLang="en-US" sz="2800" dirty="0">
                <a:latin typeface="华文黑体"/>
                <a:ea typeface="华文黑体"/>
                <a:cs typeface="华文黑体"/>
              </a:rPr>
              <a:t>地点：琼崖黄氏公会</a:t>
            </a:r>
            <a:endParaRPr lang="en-US" sz="2800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endParaRPr lang="en-US" sz="2800" dirty="0">
              <a:latin typeface="华文黑体"/>
              <a:ea typeface="华文黑体"/>
              <a:cs typeface="华文黑体"/>
            </a:endParaRPr>
          </a:p>
        </p:txBody>
      </p:sp>
    </p:spTree>
    <p:extLst>
      <p:ext uri="{BB962C8B-B14F-4D97-AF65-F5344CB8AC3E}">
        <p14:creationId xmlns:p14="http://schemas.microsoft.com/office/powerpoint/2010/main" val="4148058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华文黑体"/>
                <a:ea typeface="华文黑体"/>
                <a:cs typeface="华文黑体"/>
              </a:rPr>
              <a:t>2018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dirty="0">
                <a:latin typeface="华文黑体"/>
                <a:ea typeface="华文黑体"/>
                <a:cs typeface="华文黑体"/>
              </a:rPr>
              <a:t>12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20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r>
              <a:rPr lang="en-US" dirty="0">
                <a:latin typeface="华文黑体"/>
                <a:ea typeface="华文黑体"/>
                <a:cs typeface="华文黑体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43407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华文黑体"/>
                <a:ea typeface="华文黑体"/>
                <a:cs typeface="华文黑体"/>
              </a:rPr>
              <a:t>我会执委受邀参加海南学会成立62周年会庆与第43届执委委任晚会。</a:t>
            </a:r>
          </a:p>
          <a:p>
            <a:pPr marL="0" indent="0" algn="ctr">
              <a:buNone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49149560_568458383622549_7630002383367438336_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76" y="3993092"/>
            <a:ext cx="4297362" cy="2864908"/>
          </a:xfrm>
          <a:prstGeom prst="rect">
            <a:avLst/>
          </a:prstGeom>
        </p:spPr>
      </p:pic>
      <p:pic>
        <p:nvPicPr>
          <p:cNvPr id="5" name="Picture 4" descr="48380359_568453620289692_1287283019521982464_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638" y="3993092"/>
            <a:ext cx="4297362" cy="286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08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华文黑体"/>
                <a:ea typeface="华文黑体"/>
                <a:cs typeface="华文黑体"/>
              </a:rPr>
              <a:t>2019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zh-CN" altLang="zh-CN" dirty="0">
                <a:latin typeface="华文黑体"/>
                <a:ea typeface="华文黑体"/>
                <a:cs typeface="华文黑体"/>
              </a:rPr>
              <a:t>1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2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57367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dirty="0">
                <a:latin typeface="华文黑体"/>
                <a:ea typeface="华文黑体"/>
                <a:cs typeface="华文黑体"/>
              </a:rPr>
              <a:t>我会少平，泽南，学汉，瑞忠，业雄，骏源</a:t>
            </a:r>
            <a:br>
              <a:rPr lang="en-US" altLang="zh-CN" dirty="0">
                <a:latin typeface="华文黑体"/>
                <a:ea typeface="华文黑体"/>
                <a:cs typeface="华文黑体"/>
              </a:rPr>
            </a:br>
            <a:r>
              <a:rPr lang="zh-CN" altLang="en-US" dirty="0">
                <a:latin typeface="华文黑体"/>
                <a:ea typeface="华文黑体"/>
                <a:cs typeface="华文黑体"/>
              </a:rPr>
              <a:t>拜访新加坡教育部母语司，梅凤女士表示会向课程编写署建议把如何建修家谱收录在</a:t>
            </a:r>
            <a:r>
              <a:rPr lang="en-US" dirty="0">
                <a:latin typeface="华文黑体"/>
                <a:ea typeface="华文黑体"/>
                <a:cs typeface="华文黑体"/>
              </a:rPr>
              <a:t>2020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年的华文课本之中。</a:t>
            </a:r>
            <a:endParaRPr lang="en-US" dirty="0">
              <a:latin typeface="华文黑体"/>
              <a:ea typeface="华文黑体"/>
              <a:cs typeface="华文黑体"/>
            </a:endParaRPr>
          </a:p>
          <a:p>
            <a:pPr marL="0" indent="0" algn="ctr">
              <a:buNone/>
            </a:pP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IMG_1070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74" b="9584"/>
          <a:stretch/>
        </p:blipFill>
        <p:spPr>
          <a:xfrm>
            <a:off x="4882762" y="4085284"/>
            <a:ext cx="4261238" cy="277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058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华文黑体"/>
                <a:ea typeface="华文黑体"/>
                <a:cs typeface="华文黑体"/>
              </a:rPr>
              <a:t>2019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年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1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月</a:t>
            </a:r>
            <a:r>
              <a:rPr lang="en-US" altLang="zh-CN" dirty="0">
                <a:latin typeface="华文黑体"/>
                <a:ea typeface="华文黑体"/>
                <a:cs typeface="华文黑体"/>
              </a:rPr>
              <a:t>7</a:t>
            </a:r>
            <a:r>
              <a:rPr lang="zh-CN" altLang="en-US" dirty="0">
                <a:latin typeface="华文黑体"/>
                <a:ea typeface="华文黑体"/>
                <a:cs typeface="华文黑体"/>
              </a:rPr>
              <a:t>日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398797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dirty="0">
                <a:latin typeface="华文黑体"/>
                <a:ea typeface="华文黑体"/>
                <a:cs typeface="华文黑体"/>
              </a:rPr>
              <a:t>泽南，学汉，业雄，骏源拜访</a:t>
            </a:r>
            <a:br>
              <a:rPr lang="en-US" altLang="zh-CN" dirty="0">
                <a:latin typeface="华文黑体"/>
                <a:ea typeface="华文黑体"/>
                <a:cs typeface="华文黑体"/>
              </a:rPr>
            </a:br>
            <a:r>
              <a:rPr lang="zh-CN" altLang="en-US" dirty="0">
                <a:latin typeface="华文黑体"/>
                <a:ea typeface="华文黑体"/>
                <a:cs typeface="华文黑体"/>
              </a:rPr>
              <a:t>宗乡总会秘书长方百成。</a:t>
            </a:r>
            <a:r>
              <a:rPr lang="en-US" dirty="0">
                <a:effectLst/>
                <a:latin typeface="华文黑体"/>
                <a:ea typeface="华文黑体"/>
                <a:cs typeface="华文黑体"/>
              </a:rPr>
              <a:t> 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  <p:pic>
        <p:nvPicPr>
          <p:cNvPr id="4" name="Picture 3" descr="IMG_1217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71"/>
          <a:stretch/>
        </p:blipFill>
        <p:spPr>
          <a:xfrm>
            <a:off x="4821302" y="4037013"/>
            <a:ext cx="4322698" cy="282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84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09319"/>
            <a:ext cx="8229600" cy="1143000"/>
          </a:xfrm>
        </p:spPr>
        <p:txBody>
          <a:bodyPr/>
          <a:lstStyle/>
          <a:p>
            <a:r>
              <a:rPr lang="zh-CN" altLang="en-US" dirty="0">
                <a:latin typeface="华文黑体"/>
                <a:ea typeface="华文黑体"/>
                <a:cs typeface="华文黑体"/>
              </a:rPr>
              <a:t>活动报告完毕</a:t>
            </a:r>
            <a:endParaRPr lang="en-US" dirty="0">
              <a:latin typeface="华文黑体"/>
              <a:ea typeface="华文黑体"/>
              <a:cs typeface="华文黑体"/>
            </a:endParaRPr>
          </a:p>
        </p:txBody>
      </p:sp>
    </p:spTree>
    <p:extLst>
      <p:ext uri="{BB962C8B-B14F-4D97-AF65-F5344CB8AC3E}">
        <p14:creationId xmlns:p14="http://schemas.microsoft.com/office/powerpoint/2010/main" val="3316023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587</Words>
  <Application>Microsoft Macintosh PowerPoint</Application>
  <PresentationFormat>On-screen Show (4:3)</PresentationFormat>
  <Paragraphs>83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宋体</vt:lpstr>
      <vt:lpstr>华文黑体</vt:lpstr>
      <vt:lpstr>Arial</vt:lpstr>
      <vt:lpstr>Calibri</vt:lpstr>
      <vt:lpstr>Office Theme</vt:lpstr>
      <vt:lpstr>PowerPoint Presentation</vt:lpstr>
      <vt:lpstr>新加坡根缘文化学会 会员大会(1)之活动报告</vt:lpstr>
      <vt:lpstr>新加坡根缘文化学会 2018年 执委会会议</vt:lpstr>
      <vt:lpstr>2011年6月30日</vt:lpstr>
      <vt:lpstr>2011年7月7日</vt:lpstr>
      <vt:lpstr>2014年3月14日</vt:lpstr>
      <vt:lpstr>2014年4月10日</vt:lpstr>
      <vt:lpstr>2014年6月13日</vt:lpstr>
      <vt:lpstr>2014年9月27日</vt:lpstr>
      <vt:lpstr>2014年10月24日</vt:lpstr>
      <vt:lpstr>2015年1月8日</vt:lpstr>
      <vt:lpstr>2016年1月8日</vt:lpstr>
      <vt:lpstr>2016年3月16日</vt:lpstr>
      <vt:lpstr>2016年7月26日</vt:lpstr>
      <vt:lpstr>2016年10月15日</vt:lpstr>
      <vt:lpstr>2017年5月17日正式注册</vt:lpstr>
      <vt:lpstr>2017年10月29日</vt:lpstr>
      <vt:lpstr>2018年1月26日</vt:lpstr>
      <vt:lpstr>2018年2月22日</vt:lpstr>
      <vt:lpstr>2018年3月6日</vt:lpstr>
      <vt:lpstr>2018年3月30日</vt:lpstr>
      <vt:lpstr>2018年8月5日</vt:lpstr>
      <vt:lpstr>2018年10月24日</vt:lpstr>
      <vt:lpstr>2018年10月28日</vt:lpstr>
      <vt:lpstr>2018年10月28日</vt:lpstr>
      <vt:lpstr>2018年12月20日 </vt:lpstr>
      <vt:lpstr>2019年1月2日</vt:lpstr>
      <vt:lpstr>2019年1月7日</vt:lpstr>
      <vt:lpstr>活动报告完毕</vt:lpstr>
    </vt:vector>
  </TitlesOfParts>
  <Company>medialab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ian chung</dc:creator>
  <cp:lastModifiedBy>Imac</cp:lastModifiedBy>
  <cp:revision>24</cp:revision>
  <cp:lastPrinted>2025-03-04T11:15:09Z</cp:lastPrinted>
  <dcterms:created xsi:type="dcterms:W3CDTF">2019-02-19T08:05:33Z</dcterms:created>
  <dcterms:modified xsi:type="dcterms:W3CDTF">2025-03-04T11:15:11Z</dcterms:modified>
</cp:coreProperties>
</file>